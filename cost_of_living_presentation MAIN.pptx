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3"/>
    <p:sldId id="258" r:id="rId4"/>
    <p:sldId id="283" r:id="rId5"/>
    <p:sldId id="259" r:id="rId6"/>
    <p:sldId id="260" r:id="rId7"/>
    <p:sldId id="261" r:id="rId8"/>
    <p:sldId id="262" r:id="rId9"/>
    <p:sldId id="263" r:id="rId10"/>
    <p:sldId id="264" r:id="rId11"/>
    <p:sldId id="277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8" r:id="rId22"/>
    <p:sldId id="279" r:id="rId23"/>
    <p:sldId id="280" r:id="rId24"/>
    <p:sldId id="281" r:id="rId25"/>
    <p:sldId id="282" r:id="rId26"/>
    <p:sldId id="274" r:id="rId27"/>
    <p:sldId id="275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6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Cost of Living in the United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tx1"/>
                </a:solidFill>
              </a:rPr>
              <a:t>BY: Ethan Pac</a:t>
            </a:r>
          </a:p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tx1"/>
                </a:solidFill>
              </a:rPr>
              <a:t>DATA 380 Final Project</a:t>
            </a:r>
          </a:p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tx1"/>
                </a:solidFill>
              </a:rPr>
              <a:t>April 28</a:t>
            </a:r>
            <a:r>
              <a:rPr lang="en-US" sz="2700" baseline="30000" dirty="0">
                <a:solidFill>
                  <a:schemeClr val="tx1"/>
                </a:solidFill>
              </a:rPr>
              <a:t>th</a:t>
            </a:r>
            <a:r>
              <a:rPr lang="en-US" sz="2700" dirty="0">
                <a:solidFill>
                  <a:schemeClr val="tx1"/>
                </a:solidFill>
              </a:rPr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080A9F-A204-9EB5-0829-2D35DB65F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D0DAA-C63D-92B8-BF95-284DCEA46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Presenting on Cost of Living in the United States using US Family Budget dataset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Content</a:t>
            </a:r>
          </a:p>
          <a:p>
            <a:pPr>
              <a:buFontTx/>
              <a:buChar char="-"/>
            </a:pPr>
            <a:r>
              <a:rPr lang="en-US" sz="2400" dirty="0"/>
              <a:t>31,000+ rows</a:t>
            </a:r>
          </a:p>
          <a:p>
            <a:pPr>
              <a:buFontTx/>
              <a:buChar char="-"/>
            </a:pPr>
            <a:r>
              <a:rPr lang="en-US" sz="2400" dirty="0"/>
              <a:t>15 variables</a:t>
            </a:r>
          </a:p>
          <a:p>
            <a:pPr>
              <a:buFontTx/>
              <a:buChar char="-"/>
            </a:pPr>
            <a:r>
              <a:rPr lang="en-US" sz="2400" dirty="0"/>
              <a:t>Covers 1,877 counties </a:t>
            </a:r>
          </a:p>
          <a:p>
            <a:pPr>
              <a:buFontTx/>
              <a:buChar char="-"/>
            </a:pPr>
            <a:r>
              <a:rPr lang="en-US" sz="2400" dirty="0"/>
              <a:t>Based on EPI Family Budget Calculator 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280802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287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12488"/>
            <a:ext cx="2174391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Variables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641" y="1412489"/>
            <a:ext cx="2570462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u="sng"/>
              <a:t>Categorical Variables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state</a:t>
            </a:r>
            <a:r>
              <a:rPr lang="en-US" sz="1700"/>
              <a:t> – U.S. state name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isMetro</a:t>
            </a:r>
            <a:r>
              <a:rPr lang="en-US" sz="1700"/>
              <a:t> – Metro vs. non‑metro area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areaname</a:t>
            </a:r>
            <a:r>
              <a:rPr lang="en-US" sz="1700"/>
              <a:t> – Metro area name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county</a:t>
            </a:r>
            <a:r>
              <a:rPr lang="en-US" sz="1700"/>
              <a:t> – County name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family_member_count</a:t>
            </a:r>
            <a:r>
              <a:rPr lang="en-US" sz="1700"/>
              <a:t> – Number of people in the family (treated as categorical for grouping)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403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1D01E7A-DB51-7326-0CCF-FA784DBDF945}"/>
              </a:ext>
            </a:extLst>
          </p:cNvPr>
          <p:cNvSpPr txBox="1"/>
          <p:nvPr/>
        </p:nvSpPr>
        <p:spPr>
          <a:xfrm>
            <a:off x="6338703" y="1412489"/>
            <a:ext cx="2570458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u="sng" dirty="0"/>
              <a:t>Quantitative Variables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housing_cost</a:t>
            </a: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food_cost</a:t>
            </a: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transportation_cost</a:t>
            </a: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healthcare_cost</a:t>
            </a: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other_necessities_cost</a:t>
            </a: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childcare_cost</a:t>
            </a: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taxes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total_cost</a:t>
            </a: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median_family_income</a:t>
            </a:r>
            <a:endParaRPr lang="en-US" sz="17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78E37-98E1-9BA9-9613-6CCD86752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 Statistics 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9AF33C-DCED-0A83-58C7-6AE51EA3A106}"/>
              </a:ext>
            </a:extLst>
          </p:cNvPr>
          <p:cNvSpPr txBox="1"/>
          <p:nvPr/>
        </p:nvSpPr>
        <p:spPr>
          <a:xfrm>
            <a:off x="3490721" y="502920"/>
            <a:ext cx="5170932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Total costs varies significantly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Housing has a wide range (varies across region) and high variation making it a big driver of overall costs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Food costs are more stable compared to others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Median family incomes varies widely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82BD3B1-9B36-C1E5-ECF9-38F3A8548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721" y="502920"/>
            <a:ext cx="5170932" cy="14630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421874-BD95-F384-DF35-3C8A36B026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5767202"/>
              </p:ext>
            </p:extLst>
          </p:nvPr>
        </p:nvGraphicFramePr>
        <p:xfrm>
          <a:off x="473202" y="2590362"/>
          <a:ext cx="8188455" cy="336050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315124">
                  <a:extLst>
                    <a:ext uri="{9D8B030D-6E8A-4147-A177-3AD203B41FA5}">
                      <a16:colId xmlns:a16="http://schemas.microsoft.com/office/drawing/2014/main" val="4266074153"/>
                    </a:ext>
                  </a:extLst>
                </a:gridCol>
                <a:gridCol w="992143">
                  <a:extLst>
                    <a:ext uri="{9D8B030D-6E8A-4147-A177-3AD203B41FA5}">
                      <a16:colId xmlns:a16="http://schemas.microsoft.com/office/drawing/2014/main" val="1755159457"/>
                    </a:ext>
                  </a:extLst>
                </a:gridCol>
                <a:gridCol w="911782">
                  <a:extLst>
                    <a:ext uri="{9D8B030D-6E8A-4147-A177-3AD203B41FA5}">
                      <a16:colId xmlns:a16="http://schemas.microsoft.com/office/drawing/2014/main" val="223734040"/>
                    </a:ext>
                  </a:extLst>
                </a:gridCol>
                <a:gridCol w="911782">
                  <a:extLst>
                    <a:ext uri="{9D8B030D-6E8A-4147-A177-3AD203B41FA5}">
                      <a16:colId xmlns:a16="http://schemas.microsoft.com/office/drawing/2014/main" val="3233772440"/>
                    </a:ext>
                  </a:extLst>
                </a:gridCol>
                <a:gridCol w="911782">
                  <a:extLst>
                    <a:ext uri="{9D8B030D-6E8A-4147-A177-3AD203B41FA5}">
                      <a16:colId xmlns:a16="http://schemas.microsoft.com/office/drawing/2014/main" val="1251611993"/>
                    </a:ext>
                  </a:extLst>
                </a:gridCol>
                <a:gridCol w="1207166">
                  <a:extLst>
                    <a:ext uri="{9D8B030D-6E8A-4147-A177-3AD203B41FA5}">
                      <a16:colId xmlns:a16="http://schemas.microsoft.com/office/drawing/2014/main" val="4209257505"/>
                    </a:ext>
                  </a:extLst>
                </a:gridCol>
                <a:gridCol w="911782">
                  <a:extLst>
                    <a:ext uri="{9D8B030D-6E8A-4147-A177-3AD203B41FA5}">
                      <a16:colId xmlns:a16="http://schemas.microsoft.com/office/drawing/2014/main" val="1323350903"/>
                    </a:ext>
                  </a:extLst>
                </a:gridCol>
                <a:gridCol w="1026894">
                  <a:extLst>
                    <a:ext uri="{9D8B030D-6E8A-4147-A177-3AD203B41FA5}">
                      <a16:colId xmlns:a16="http://schemas.microsoft.com/office/drawing/2014/main" val="201341662"/>
                    </a:ext>
                  </a:extLst>
                </a:gridCol>
              </a:tblGrid>
              <a:tr h="857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 marL="0" marR="125103" marT="25020" marB="1251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 marL="0" marR="125103" marT="25020" marB="1251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>
                          <a:solidFill>
                            <a:schemeClr val="tx1"/>
                          </a:solidFill>
                        </a:rPr>
                        <a:t>Std Dev</a:t>
                      </a:r>
                    </a:p>
                  </a:txBody>
                  <a:tcPr marL="0" marR="125103" marT="25020" marB="1251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>
                          <a:solidFill>
                            <a:schemeClr val="tx1"/>
                          </a:solidFill>
                        </a:rPr>
                        <a:t>Min</a:t>
                      </a:r>
                    </a:p>
                  </a:txBody>
                  <a:tcPr marL="0" marR="125103" marT="25020" marB="1251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>
                          <a:solidFill>
                            <a:schemeClr val="tx1"/>
                          </a:solidFill>
                        </a:rPr>
                        <a:t>25%</a:t>
                      </a:r>
                    </a:p>
                  </a:txBody>
                  <a:tcPr marL="0" marR="125103" marT="25020" marB="1251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>
                          <a:solidFill>
                            <a:schemeClr val="tx1"/>
                          </a:solidFill>
                        </a:rPr>
                        <a:t>Median</a:t>
                      </a:r>
                    </a:p>
                  </a:txBody>
                  <a:tcPr marL="0" marR="125103" marT="25020" marB="1251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>
                          <a:solidFill>
                            <a:schemeClr val="tx1"/>
                          </a:solidFill>
                        </a:rPr>
                        <a:t>75%</a:t>
                      </a:r>
                    </a:p>
                  </a:txBody>
                  <a:tcPr marL="0" marR="125103" marT="25020" marB="1251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cap="none" spc="0" dirty="0">
                          <a:solidFill>
                            <a:schemeClr val="tx1"/>
                          </a:solidFill>
                        </a:rPr>
                        <a:t>Max</a:t>
                      </a:r>
                    </a:p>
                  </a:txBody>
                  <a:tcPr marL="0" marR="125103" marT="25020" marB="1251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804113"/>
                  </a:ext>
                </a:extLst>
              </a:tr>
              <a:tr h="686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Housing Cost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11,073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4,166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4,209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8,580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10,416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12,444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61,736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057527"/>
                  </a:ext>
                </a:extLst>
              </a:tr>
              <a:tr h="442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Food Cost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8,288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3,271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2,220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5,801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8,129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10,704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31,179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172448"/>
                  </a:ext>
                </a:extLst>
              </a:tr>
              <a:tr h="442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Total Cost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70,900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21,846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30,088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53,774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70,974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85,368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223,718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389516"/>
                  </a:ext>
                </a:extLst>
              </a:tr>
              <a:tr h="930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Median Family Income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68,316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16,887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25,530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57,224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65,956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76,136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177,662</a:t>
                      </a:r>
                    </a:p>
                  </a:txBody>
                  <a:tcPr marL="0" marR="125103" marT="37531" marB="1251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346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795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4000" dirty="0"/>
              <a:t>Removed missing values</a:t>
            </a:r>
          </a:p>
          <a:p>
            <a:r>
              <a:rPr lang="en-US" sz="4000" dirty="0"/>
              <a:t>Dropped </a:t>
            </a:r>
            <a:r>
              <a:rPr lang="en-US" sz="4000" dirty="0" err="1"/>
              <a:t>case_id</a:t>
            </a:r>
            <a:endParaRPr lang="en-US" sz="4000" dirty="0"/>
          </a:p>
          <a:p>
            <a:r>
              <a:rPr lang="en-US" sz="4000" dirty="0"/>
              <a:t>Checked data 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/>
              <a:t>Transportation Cost by State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/>
              <a:t>Costs are relatively consistent</a:t>
            </a:r>
          </a:p>
          <a:p>
            <a:r>
              <a:rPr lang="en-US" sz="1900"/>
              <a:t>Small variation across states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47A3BD-1D50-9A23-5BC9-E233BE280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2407739"/>
            <a:ext cx="8188452" cy="37257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Healthcare Cost by State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/>
              <a:t>More variation than transportation</a:t>
            </a:r>
          </a:p>
          <a:p>
            <a:r>
              <a:rPr lang="en-US" sz="1900"/>
              <a:t>Some states significantly higher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7C2465-1BFC-DAA3-B89F-9BE63673E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2407739"/>
            <a:ext cx="8188452" cy="37257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Childcare Cost by State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/>
              <a:t>Very large differences</a:t>
            </a:r>
          </a:p>
          <a:p>
            <a:r>
              <a:rPr lang="en-US" sz="1900"/>
              <a:t>Highest in DC and NY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DC7AEC-0CF9-DB58-4AED-EEB1BE078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2407739"/>
            <a:ext cx="8188452" cy="37257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r>
              <a:rPr lang="en-US" sz="4200"/>
              <a:t>Taxes by State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/>
              <a:t>Higher in CA, NY, DC</a:t>
            </a:r>
          </a:p>
          <a:p>
            <a:r>
              <a:rPr lang="en-US" sz="1900"/>
              <a:t>Lower in some southern states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CE4451-0FD0-2B68-D000-18BFAB607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2407739"/>
            <a:ext cx="8188452" cy="37257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Median Income by State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/>
              <a:t>Higher income = higher costs</a:t>
            </a:r>
          </a:p>
          <a:p>
            <a:r>
              <a:rPr lang="en-US" sz="1900"/>
              <a:t>Strong relationship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CB9C4-3041-2879-8FF6-FF5002C8F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2407739"/>
            <a:ext cx="8188452" cy="37257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E43B1-8416-32E6-3BBA-3B5700425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 fontScale="90000"/>
          </a:bodyPr>
          <a:lstStyle/>
          <a:p>
            <a:r>
              <a:rPr lang="en-US" sz="4200" dirty="0"/>
              <a:t>Number of Records by Family Type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20F521-34B5-B006-C536-0B1958CC68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90721" y="502920"/>
            <a:ext cx="5170932" cy="14630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Equal number of observations for each family type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Dataset is evenly distributed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No bias across family categories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202779-683E-7B5E-0046-ECB170DA4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947" y="2290936"/>
            <a:ext cx="6334961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32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r>
              <a:rPr lang="en-US" sz="4200"/>
              <a:t>Heatmap by State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Shows relative cost levels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Red = higher, Blue = lower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California and New York show consistent higher costs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Southern states tend to have overall lower costs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Childcare and housing vary the most across states </a:t>
            </a:r>
          </a:p>
          <a:p>
            <a:pPr>
              <a:lnSpc>
                <a:spcPct val="90000"/>
              </a:lnSpc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6AC81-F1F0-B519-59CF-569B29D97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622" y="2290936"/>
            <a:ext cx="5931612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US" sz="4700"/>
              <a:t>Choropleth Map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r>
              <a:rPr lang="en-US" sz="1900" dirty="0"/>
              <a:t>Geographic patterns</a:t>
            </a:r>
          </a:p>
          <a:p>
            <a:r>
              <a:rPr lang="en-US" sz="1900" dirty="0"/>
              <a:t>Higher transportation costs in California and Northeast state </a:t>
            </a:r>
          </a:p>
          <a:p>
            <a:r>
              <a:rPr lang="en-US" sz="1900" dirty="0"/>
              <a:t>Lower costs in Midwest and Southern regions </a:t>
            </a:r>
          </a:p>
          <a:p>
            <a:pPr marL="0" indent="0">
              <a:buNone/>
            </a:pPr>
            <a:endParaRPr lang="en-US" sz="1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D98037-F473-D7E0-2E66-81EF2117D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054" y="0"/>
            <a:ext cx="582211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/>
              <a:t>Total vs Transportation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/>
              <a:t>Positive relationship</a:t>
            </a:r>
          </a:p>
          <a:p>
            <a:r>
              <a:rPr lang="en-US" sz="1900"/>
              <a:t>Higher total cost increases transportation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674F8F-3C21-7F55-C744-C3E9BF95B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622" y="2290936"/>
            <a:ext cx="5931612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r>
              <a:rPr lang="en-US" sz="4200"/>
              <a:t>Childcare vs Taxes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 dirty="0"/>
              <a:t>Strong upward trend</a:t>
            </a:r>
          </a:p>
          <a:p>
            <a:r>
              <a:rPr lang="en-US" sz="1900" dirty="0"/>
              <a:t>Areas with higher childcare costs tend to have higher taxes, especially in urban regions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EBF725-ED9D-467C-04AD-18A1BD36D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622" y="2290936"/>
            <a:ext cx="5931612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r>
              <a:rPr lang="en-US" sz="4200"/>
              <a:t>Income vs Taxes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/>
              <a:t>Higher income leads to higher taxes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B0CC87-B525-A339-7099-96A4B05A2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622" y="2290936"/>
            <a:ext cx="5931612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r>
              <a:rPr lang="en-US" sz="4200"/>
              <a:t>Housing vs Taxes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 dirty="0"/>
              <a:t>Strong positive relationship</a:t>
            </a:r>
          </a:p>
          <a:p>
            <a:r>
              <a:rPr lang="en-US" sz="1900" dirty="0"/>
              <a:t>Housing cost is one of the strongest factors related to higher taxes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7EE98C-7FD3-48E0-2B39-EA8A1809E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622" y="2290936"/>
            <a:ext cx="5931612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57200"/>
            <a:ext cx="3257550" cy="1929384"/>
          </a:xfrm>
        </p:spPr>
        <p:txBody>
          <a:bodyPr anchor="ctr">
            <a:normAutofit fontScale="90000"/>
          </a:bodyPr>
          <a:lstStyle/>
          <a:p>
            <a:r>
              <a:rPr lang="en-US" sz="4200" dirty="0"/>
              <a:t>Top Counties by taxes and childcare costs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5947" y="457200"/>
            <a:ext cx="4505706" cy="1929384"/>
          </a:xfrm>
        </p:spPr>
        <p:txBody>
          <a:bodyPr anchor="ctr">
            <a:normAutofit/>
          </a:bodyPr>
          <a:lstStyle/>
          <a:p>
            <a:r>
              <a:rPr lang="en-US" sz="1900" dirty="0"/>
              <a:t>Mostly NY, CA, and some DC</a:t>
            </a:r>
          </a:p>
          <a:p>
            <a:r>
              <a:rPr lang="en-US" sz="1900" dirty="0"/>
              <a:t>Costs concentrated in metro areas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DDD97D-9298-9C90-37E0-A8142AD84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" y="3285033"/>
            <a:ext cx="4101084" cy="22477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10BB13-E46F-3159-BEAD-67A8DD7E2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3396585"/>
            <a:ext cx="4101084" cy="202469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r>
              <a:rPr lang="en-US" sz="3900"/>
              <a:t>Correlation Matrix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/>
              <a:t>Strong relationships</a:t>
            </a:r>
          </a:p>
          <a:p>
            <a:r>
              <a:rPr lang="en-US" sz="1900"/>
              <a:t>Total cost linked to most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02AC97-D9D6-08E0-405C-ED95394D1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320" y="2290936"/>
            <a:ext cx="5656216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r>
              <a:rPr lang="en-US" sz="4200"/>
              <a:t>Regression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1900"/>
              <a:t>Clear positive trend</a:t>
            </a:r>
          </a:p>
          <a:p>
            <a:r>
              <a:rPr lang="en-US" sz="1900"/>
              <a:t>Taxes increase with total cost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27B149-AFFD-DE04-C619-458510052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860" y="2290936"/>
            <a:ext cx="5279136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BE719-B131-A3E1-7970-17AC8357C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Food Cost Distribution by State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C9EBA9-FBC6-113F-870D-9BAE270786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90721" y="502920"/>
            <a:ext cx="5170932" cy="14630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Several high outliers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Widespread across states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3D6A4-60D0-6AAB-4606-CE96D2DCB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7" y="2290936"/>
            <a:ext cx="7918701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98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17898-B6D5-BF6E-5298-16D6804C9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Food Cost vs Taxes Bubble Plot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E321A5-5D42-B40B-415C-2B6C96822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90721" y="502920"/>
            <a:ext cx="5170932" cy="14630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Larger bubbles = higher childcare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Metro areas higher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20E8EC-9C38-72CA-91D1-20390A54E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860" y="2290936"/>
            <a:ext cx="5279136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609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99844-3BF1-7C08-6A60-265FA8386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Housing Cost vs Taxes Bubble Plot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A3B3662-3BE9-8ACB-2B49-A96F32F8BB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90721" y="502920"/>
            <a:ext cx="5170932" cy="14630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Larger bubbles = higher childcare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Metro areas higher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A84B79-2E4E-91AE-A454-98050C794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622" y="2290936"/>
            <a:ext cx="5931612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71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FD3C98-8EAF-6C6C-0D8D-9C11CEB9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/>
              <a:t>3D Plot of Transportation, Healthcare, and Childcare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F437160-9549-6FDE-59A3-F6264AF0C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90721" y="502920"/>
            <a:ext cx="5170932" cy="14630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en-US" sz="2000" dirty="0"/>
              <a:t>These variables increase together, showing overall cost clustering.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27C334-7BC3-7A71-0A89-073270278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860" y="2290936"/>
            <a:ext cx="5279136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73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C0F63-EE10-8BF6-B52E-D88F56527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/>
              <a:t>3D Plot of Childcare, Taxes, and Income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4276452-FB7F-E0AD-9D3F-46D666BF8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Higher income areas consistently align with higher childcare costs and taxes.</a:t>
            </a:r>
            <a:endParaRPr lang="en-US" sz="19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67041B-337B-7C33-3381-E5697DE42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860" y="2290936"/>
            <a:ext cx="5279136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786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57200"/>
            <a:ext cx="3257550" cy="1929384"/>
          </a:xfrm>
        </p:spPr>
        <p:txBody>
          <a:bodyPr anchor="ctr">
            <a:normAutofit/>
          </a:bodyPr>
          <a:lstStyle/>
          <a:p>
            <a:r>
              <a:rPr lang="en-US" sz="4200"/>
              <a:t>PCA and NMF</a:t>
            </a:r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5947" y="457200"/>
            <a:ext cx="4505706" cy="1929384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000" dirty="0"/>
              <a:t>PCA shows overall cost levels across areas </a:t>
            </a:r>
          </a:p>
          <a:p>
            <a:r>
              <a:rPr lang="en-US" sz="2000" dirty="0"/>
              <a:t>NMF highlights differences in cost patterns </a:t>
            </a:r>
          </a:p>
          <a:p>
            <a:r>
              <a:rPr lang="en-US" sz="2000" dirty="0"/>
              <a:t>Most areas follow similar cost structures </a:t>
            </a:r>
          </a:p>
          <a:p>
            <a:r>
              <a:rPr lang="en-US" sz="2000" dirty="0"/>
              <a:t>Higher-cost areas cluster together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25B5ED-6FF4-47D8-ED00-F16ABF57B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" y="2871026"/>
            <a:ext cx="4101084" cy="30758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AF1E36-BA71-08E0-E68C-FB654D450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2871026"/>
            <a:ext cx="4101084" cy="307581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300"/>
              <a:t>Conclusion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A5264E-50A9-CC2D-951B-E8F34BB5A9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44813" y="552091"/>
            <a:ext cx="4668251" cy="54315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Cost of living is highest in urban and metropolitan areas, especially in states like California, New York, and Washington D.C.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Housing and childcare costs are the biggest drivers of overall cost differences across regions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Strong positive relationships exist between income, taxes, and total cost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Most cost variables move together, indicating a consistent cost structure across locations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Microsoft Office PowerPoint</Application>
  <PresentationFormat>On-screen Show (4:3)</PresentationFormat>
  <Paragraphs>156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Cost of Living in the United States</vt:lpstr>
      <vt:lpstr>Dataset Overview</vt:lpstr>
      <vt:lpstr>Variables Used</vt:lpstr>
      <vt:lpstr>Summary Statistics </vt:lpstr>
      <vt:lpstr>Data Cleaning</vt:lpstr>
      <vt:lpstr>Transportation Cost by State</vt:lpstr>
      <vt:lpstr>Healthcare Cost by State</vt:lpstr>
      <vt:lpstr>Childcare Cost by State</vt:lpstr>
      <vt:lpstr>Taxes by State</vt:lpstr>
      <vt:lpstr>Median Income by State</vt:lpstr>
      <vt:lpstr>Number of Records by Family Type</vt:lpstr>
      <vt:lpstr>Heatmap by State</vt:lpstr>
      <vt:lpstr>Choropleth Map</vt:lpstr>
      <vt:lpstr>Total vs Transportation</vt:lpstr>
      <vt:lpstr>Childcare vs Taxes</vt:lpstr>
      <vt:lpstr>Income vs Taxes</vt:lpstr>
      <vt:lpstr>Housing vs Taxes</vt:lpstr>
      <vt:lpstr>Top Counties by taxes and childcare costs</vt:lpstr>
      <vt:lpstr>Correlation Matrix</vt:lpstr>
      <vt:lpstr>Regression</vt:lpstr>
      <vt:lpstr>Food Cost Distribution by State</vt:lpstr>
      <vt:lpstr>Food Cost vs Taxes Bubble Plot</vt:lpstr>
      <vt:lpstr>Housing Cost vs Taxes Bubble Plot</vt:lpstr>
      <vt:lpstr>3D Plot of Transportation, Healthcare, and Childcare</vt:lpstr>
      <vt:lpstr>3D Plot of Childcare, Taxes, and Income</vt:lpstr>
      <vt:lpstr>PCA and NMF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Ethan G. Pac</cp:lastModifiedBy>
  <cp:revision>5</cp:revision>
  <dcterms:created xsi:type="dcterms:W3CDTF">2013-01-27T09:14:16Z</dcterms:created>
  <dcterms:modified xsi:type="dcterms:W3CDTF">2026-04-28T15:30:40Z</dcterms:modified>
  <cp:category/>
</cp:coreProperties>
</file>